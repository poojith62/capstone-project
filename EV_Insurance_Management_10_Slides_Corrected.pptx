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366760" y="0"/>
            <a:ext cx="3822191" cy="6858000"/>
          </a:xfrm>
          <a:prstGeom prst="rect">
            <a:avLst/>
          </a:prstGeom>
          <a:solidFill>
            <a:srgbClr val="0E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1508760"/>
            <a:ext cx="1325880" cy="1325880"/>
          </a:xfrm>
          <a:prstGeom prst="ellipse">
            <a:avLst/>
          </a:prstGeom>
          <a:solidFill>
            <a:srgbClr val="7501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469880" y="2743200"/>
            <a:ext cx="822960" cy="822960"/>
          </a:xfrm>
          <a:prstGeom prst="ellipse">
            <a:avLst/>
          </a:prstGeom>
          <a:solidFill>
            <a:srgbClr val="2A64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098280" y="4160520"/>
            <a:ext cx="502920" cy="502920"/>
          </a:xfrm>
          <a:prstGeom prst="ellipse">
            <a:avLst/>
          </a:prstGeom>
          <a:solidFill>
            <a:srgbClr val="188E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652760" y="4846320"/>
            <a:ext cx="320040" cy="320040"/>
          </a:xfrm>
          <a:prstGeom prst="ellipse">
            <a:avLst/>
          </a:prstGeom>
          <a:solidFill>
            <a:srgbClr val="D38B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8368" y="594360"/>
            <a:ext cx="2148840" cy="310896"/>
          </a:xfrm>
          <a:prstGeom prst="roundRect">
            <a:avLst/>
          </a:prstGeom>
          <a:solidFill>
            <a:srgbClr val="FAEFF6"/>
          </a:solidFill>
          <a:ln w="10160">
            <a:solidFill>
              <a:srgbClr val="FAE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621792"/>
            <a:ext cx="214884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30" b="1">
                <a:solidFill>
                  <a:srgbClr val="75013F"/>
                </a:solidFill>
                <a:latin typeface="Aptos"/>
              </a:rPr>
              <a:t>DOTNET + ANGULAR FULLSTACK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417320"/>
            <a:ext cx="71323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300" b="1">
                <a:solidFill>
                  <a:srgbClr val="181E2B"/>
                </a:solidFill>
                <a:latin typeface="Aptos"/>
              </a:rPr>
              <a:t>Electric Vehicle
Insurance Management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063240"/>
            <a:ext cx="69494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676F7D"/>
                </a:solidFill>
                <a:latin typeface="Aptos"/>
              </a:rPr>
              <a:t>A role-based insurance platform for EV registration, quotes, underwriting, policies and claims.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315968"/>
            <a:ext cx="1645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75013F"/>
                </a:solidFill>
                <a:latin typeface="Aptos"/>
              </a:rPr>
              <a:t>CORE TECHNOLOGY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617720"/>
            <a:ext cx="6766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81E2B"/>
                </a:solidFill>
                <a:latin typeface="Aptos"/>
              </a:rPr>
              <a:t>Angular • TailwindCSS • ASP.NET Core • EF Core • SQL Server • JWT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532120"/>
            <a:ext cx="12801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75013F"/>
                </a:solidFill>
                <a:latin typeface="Aptos"/>
              </a:rPr>
              <a:t>PRESENTED BY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5769864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81E2B"/>
                </a:solidFill>
                <a:latin typeface="Aptos"/>
              </a:rPr>
              <a:t>Poojith Sai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2240280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EV INSURANCE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06840" y="2633472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CCD5E5"/>
                </a:solidFill>
                <a:latin typeface="Aptos"/>
              </a:rPr>
              <a:t>MANAGEMENT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676F7D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75013F"/>
                </a:solidFill>
                <a:latin typeface="Aptos"/>
              </a:rPr>
              <a:t>01 — DOMAIN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85800"/>
            <a:ext cx="10789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81E2B"/>
                </a:solidFill>
                <a:latin typeface="Aptos"/>
              </a:rPr>
              <a:t>The business problem — and our digital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25880"/>
            <a:ext cx="10332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76F7D"/>
                </a:solidFill>
                <a:latin typeface="Aptos"/>
              </a:rPr>
              <a:t>EV insurance needs a workflow that understands the vehicle, product, underwriting and claims lifecycle.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828800"/>
            <a:ext cx="5212080" cy="3429000"/>
          </a:xfrm>
          <a:prstGeom prst="roundRect">
            <a:avLst/>
          </a:prstGeom>
          <a:solidFill>
            <a:srgbClr val="FAEFF6"/>
          </a:solidFill>
          <a:ln w="10160">
            <a:solidFill>
              <a:srgbClr val="DA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28800"/>
            <a:ext cx="54864" cy="3429000"/>
          </a:xfrm>
          <a:prstGeom prst="rect">
            <a:avLst/>
          </a:prstGeom>
          <a:solidFill>
            <a:srgbClr val="7501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975104"/>
            <a:ext cx="4892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75013F"/>
                </a:solidFill>
                <a:latin typeface="Aptos"/>
              </a:rPr>
              <a:t>BUSINESS CHALLENGE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368296"/>
            <a:ext cx="4892040" cy="2761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0">
                <a:solidFill>
                  <a:srgbClr val="181E2B"/>
                </a:solidFill>
                <a:latin typeface="Aptos"/>
              </a:rPr>
              <a:t>• Generic motor-insurance workflows do not fully represent EV-specific information.
• Battery and other EV-related risks require configurable protection.
• Customer, underwriting, policy and claim activities need a connected workflow.
• Administrators need the ability to configure insurance products.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44768" y="1828800"/>
            <a:ext cx="5394960" cy="3429000"/>
          </a:xfrm>
          <a:prstGeom prst="roundRect">
            <a:avLst/>
          </a:prstGeom>
          <a:solidFill>
            <a:srgbClr val="EBF8F4"/>
          </a:solidFill>
          <a:ln w="10160">
            <a:solidFill>
              <a:srgbClr val="DA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44768" y="1828800"/>
            <a:ext cx="54864" cy="3429000"/>
          </a:xfrm>
          <a:prstGeom prst="rect">
            <a:avLst/>
          </a:prstGeom>
          <a:solidFill>
            <a:srgbClr val="188E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27648" y="1975104"/>
            <a:ext cx="5074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88E7D"/>
                </a:solidFill>
                <a:latin typeface="Aptos"/>
              </a:rPr>
              <a:t>OUR SOLUTION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7648" y="2368296"/>
            <a:ext cx="5074920" cy="2761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81E2B"/>
                </a:solidFill>
                <a:latin typeface="Aptos"/>
              </a:rPr>
              <a:t>A centralized full-stack EV insurance platform that connects:
Customer → EV Details → Quote → Underwriting → Policy → Claim → Survey → Settlement
The system uses role-based access so every actor sees the operations relevant to them.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676F7D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75013F"/>
                </a:solidFill>
                <a:latin typeface="Aptos"/>
              </a:rPr>
              <a:t>02 — ACTORS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85800"/>
            <a:ext cx="10789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81E2B"/>
                </a:solidFill>
                <a:latin typeface="Aptos"/>
              </a:rPr>
              <a:t>Platform actors and responsibilities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25880"/>
            <a:ext cx="10332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76F7D"/>
                </a:solidFill>
                <a:latin typeface="Aptos"/>
              </a:rPr>
              <a:t>Four roles define the workflow. There is no Claims Officer role.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828800"/>
            <a:ext cx="2578608" cy="3337560"/>
          </a:xfrm>
          <a:prstGeom prst="roundRect">
            <a:avLst/>
          </a:prstGeom>
          <a:solidFill>
            <a:srgbClr val="EDF4FF"/>
          </a:solidFill>
          <a:ln w="10160">
            <a:solidFill>
              <a:srgbClr val="DA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28800"/>
            <a:ext cx="54864" cy="3337560"/>
          </a:xfrm>
          <a:prstGeom prst="rect">
            <a:avLst/>
          </a:prstGeom>
          <a:solidFill>
            <a:srgbClr val="2A64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975104"/>
            <a:ext cx="225856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A64CD"/>
                </a:solidFill>
                <a:latin typeface="Aptos"/>
              </a:rPr>
              <a:t>CUSTOMER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368296"/>
            <a:ext cx="2258568" cy="2670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181E2B"/>
                </a:solidFill>
                <a:latin typeface="Aptos"/>
              </a:rPr>
              <a:t>Register / login
Register EV
Request quote
Apply for policy
View policy
Submit claim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1828800"/>
            <a:ext cx="2578608" cy="3337560"/>
          </a:xfrm>
          <a:prstGeom prst="roundRect">
            <a:avLst/>
          </a:prstGeom>
          <a:solidFill>
            <a:srgbClr val="FFF7E5"/>
          </a:solidFill>
          <a:ln w="10160">
            <a:solidFill>
              <a:srgbClr val="DA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74720" y="1828800"/>
            <a:ext cx="54864" cy="3337560"/>
          </a:xfrm>
          <a:prstGeom prst="rect">
            <a:avLst/>
          </a:prstGeom>
          <a:solidFill>
            <a:srgbClr val="D38B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0" y="1975104"/>
            <a:ext cx="225856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D38B19"/>
                </a:solidFill>
                <a:latin typeface="Aptos"/>
              </a:rPr>
              <a:t>UNDERWRITER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368296"/>
            <a:ext cx="2258568" cy="2670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181E2B"/>
                </a:solidFill>
                <a:latin typeface="Aptos"/>
              </a:rPr>
              <a:t>Review applications
Validate EV information
Review risk
Modify premium when required
Approve / reject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91072" y="1828800"/>
            <a:ext cx="2578608" cy="3337560"/>
          </a:xfrm>
          <a:prstGeom prst="roundRect">
            <a:avLst/>
          </a:prstGeom>
          <a:solidFill>
            <a:srgbClr val="EBF8F4"/>
          </a:solidFill>
          <a:ln w="10160">
            <a:solidFill>
              <a:srgbClr val="DA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91072" y="1828800"/>
            <a:ext cx="54864" cy="3337560"/>
          </a:xfrm>
          <a:prstGeom prst="rect">
            <a:avLst/>
          </a:prstGeom>
          <a:solidFill>
            <a:srgbClr val="188E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73952" y="1975104"/>
            <a:ext cx="225856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88E7D"/>
                </a:solidFill>
                <a:latin typeface="Aptos"/>
              </a:rPr>
              <a:t>SURVEYOR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2368296"/>
            <a:ext cx="2258568" cy="2670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181E2B"/>
                </a:solidFill>
                <a:latin typeface="Aptos"/>
              </a:rPr>
              <a:t>Receive assigned claim
Review evidence
Investigate incident
Record findings
Submit recommendation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07424" y="1828800"/>
            <a:ext cx="2578608" cy="3337560"/>
          </a:xfrm>
          <a:prstGeom prst="roundRect">
            <a:avLst/>
          </a:prstGeom>
          <a:solidFill>
            <a:srgbClr val="FAEFF6"/>
          </a:solidFill>
          <a:ln w="10160">
            <a:solidFill>
              <a:srgbClr val="DA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07424" y="1828800"/>
            <a:ext cx="54864" cy="3337560"/>
          </a:xfrm>
          <a:prstGeom prst="rect">
            <a:avLst/>
          </a:prstGeom>
          <a:solidFill>
            <a:srgbClr val="7501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90304" y="1975104"/>
            <a:ext cx="225856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75013F"/>
                </a:solidFill>
                <a:latin typeface="Aptos"/>
              </a:rPr>
              <a:t>ADMIN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90304" y="2368296"/>
            <a:ext cx="2258568" cy="2670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181E2B"/>
                </a:solidFill>
                <a:latin typeface="Aptos"/>
              </a:rPr>
              <a:t>Approve employee requests
Manage policy types
Manage coverage types
Configure products
Manage configuration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513832"/>
            <a:ext cx="1508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188E7D"/>
                </a:solidFill>
                <a:latin typeface="Aptos"/>
              </a:rPr>
              <a:t>CLAIM RESPONSIBILITY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40280" y="5486400"/>
            <a:ext cx="85953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181E2B"/>
                </a:solidFill>
                <a:latin typeface="Aptos"/>
              </a:rPr>
              <a:t>Customer submits → Surveyor investigates → Surveyor recommends → claim progresses to settlement.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676F7D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75013F"/>
                </a:solidFill>
                <a:latin typeface="Aptos"/>
              </a:rPr>
              <a:t>03 — BUSINESS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85800"/>
            <a:ext cx="10789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81E2B"/>
                </a:solidFill>
                <a:latin typeface="Aptos"/>
              </a:rPr>
              <a:t>Complete EV insurance lifecycle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25880"/>
            <a:ext cx="10332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76F7D"/>
                </a:solidFill>
                <a:latin typeface="Aptos"/>
              </a:rPr>
              <a:t>The same EV and customer context moves through each stage of the insurance process.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828800"/>
            <a:ext cx="2542032" cy="1188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95528" y="1956816"/>
            <a:ext cx="384048" cy="310896"/>
          </a:xfrm>
          <a:prstGeom prst="roundRect">
            <a:avLst/>
          </a:prstGeom>
          <a:solidFill>
            <a:srgbClr val="2A64CD"/>
          </a:solidFill>
          <a:ln w="10160">
            <a:solidFill>
              <a:srgbClr val="2A64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984248"/>
            <a:ext cx="384048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3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965960"/>
            <a:ext cx="1645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A64CD"/>
                </a:solidFill>
                <a:latin typeface="Aptos"/>
              </a:rPr>
              <a:t>REGISTER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359152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0">
                <a:solidFill>
                  <a:srgbClr val="676F7D"/>
                </a:solidFill>
                <a:latin typeface="Aptos"/>
              </a:rPr>
              <a:t>Customer creates account and registers EV.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47287" y="1828800"/>
            <a:ext cx="2542032" cy="1188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584447" y="1956816"/>
            <a:ext cx="384048" cy="310896"/>
          </a:xfrm>
          <a:prstGeom prst="roundRect">
            <a:avLst/>
          </a:prstGeom>
          <a:solidFill>
            <a:srgbClr val="2A64CD"/>
          </a:solidFill>
          <a:ln w="10160">
            <a:solidFill>
              <a:srgbClr val="2A64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84447" y="1984248"/>
            <a:ext cx="384048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3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69079" y="1965960"/>
            <a:ext cx="1645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A64CD"/>
                </a:solidFill>
                <a:latin typeface="Aptos"/>
              </a:rPr>
              <a:t>QUOTE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93591" y="2359152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0">
                <a:solidFill>
                  <a:srgbClr val="676F7D"/>
                </a:solidFill>
                <a:latin typeface="Aptos"/>
              </a:rPr>
              <a:t>EV details and selected product are used for quoting.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6207" y="1828800"/>
            <a:ext cx="2542032" cy="1188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73368" y="1956816"/>
            <a:ext cx="384048" cy="310896"/>
          </a:xfrm>
          <a:prstGeom prst="roundRect">
            <a:avLst/>
          </a:prstGeom>
          <a:solidFill>
            <a:srgbClr val="D38B19"/>
          </a:solidFill>
          <a:ln w="10160">
            <a:solidFill>
              <a:srgbClr val="D38B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3368" y="1984248"/>
            <a:ext cx="384048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3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7999" y="1965960"/>
            <a:ext cx="1645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D38B19"/>
                </a:solidFill>
                <a:latin typeface="Aptos"/>
              </a:rPr>
              <a:t>UNDERWRITE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82512" y="2359152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0">
                <a:solidFill>
                  <a:srgbClr val="676F7D"/>
                </a:solidFill>
                <a:latin typeface="Aptos"/>
              </a:rPr>
              <a:t>Underwriter reviews and processes the application.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25128" y="1828800"/>
            <a:ext cx="2542032" cy="1188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62288" y="1956816"/>
            <a:ext cx="384048" cy="310896"/>
          </a:xfrm>
          <a:prstGeom prst="roundRect">
            <a:avLst/>
          </a:prstGeom>
          <a:solidFill>
            <a:srgbClr val="188E7D"/>
          </a:solidFill>
          <a:ln w="10160">
            <a:solidFill>
              <a:srgbClr val="188E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62288" y="1984248"/>
            <a:ext cx="384048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3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46919" y="1965960"/>
            <a:ext cx="1645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88E7D"/>
                </a:solidFill>
                <a:latin typeface="Aptos"/>
              </a:rPr>
              <a:t>POLICY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71432" y="2359152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0">
                <a:solidFill>
                  <a:srgbClr val="676F7D"/>
                </a:solidFill>
                <a:latin typeface="Aptos"/>
              </a:rPr>
              <a:t>Approved application progresses to policy lifecycle.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3401568"/>
            <a:ext cx="2542032" cy="1188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95528" y="3529584"/>
            <a:ext cx="384048" cy="310896"/>
          </a:xfrm>
          <a:prstGeom prst="roundRect">
            <a:avLst/>
          </a:prstGeom>
          <a:solidFill>
            <a:srgbClr val="188E7D"/>
          </a:solidFill>
          <a:ln w="10160">
            <a:solidFill>
              <a:srgbClr val="188E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5528" y="3557015"/>
            <a:ext cx="384048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3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80160" y="3538727"/>
            <a:ext cx="1645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88E7D"/>
                </a:solidFill>
                <a:latin typeface="Aptos"/>
              </a:rPr>
              <a:t>CLAIM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" y="3931920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0">
                <a:solidFill>
                  <a:srgbClr val="676F7D"/>
                </a:solidFill>
                <a:latin typeface="Aptos"/>
              </a:rPr>
              <a:t>Customer submits claim and supporting evidence.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447287" y="3401568"/>
            <a:ext cx="2542032" cy="1188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3584447" y="3529584"/>
            <a:ext cx="384048" cy="310896"/>
          </a:xfrm>
          <a:prstGeom prst="roundRect">
            <a:avLst/>
          </a:prstGeom>
          <a:solidFill>
            <a:srgbClr val="188E7D"/>
          </a:solidFill>
          <a:ln w="10160">
            <a:solidFill>
              <a:srgbClr val="188E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584447" y="3557015"/>
            <a:ext cx="384048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30" b="1">
                <a:solidFill>
                  <a:srgbClr val="FFFFFF"/>
                </a:solidFill>
                <a:latin typeface="Aptos"/>
              </a:rP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69079" y="3538727"/>
            <a:ext cx="1645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88E7D"/>
                </a:solidFill>
                <a:latin typeface="Aptos"/>
              </a:rPr>
              <a:t>SURVEY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93591" y="3931920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0">
                <a:solidFill>
                  <a:srgbClr val="676F7D"/>
                </a:solidFill>
                <a:latin typeface="Aptos"/>
              </a:rPr>
              <a:t>Surveyor investigates and records findings.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36207" y="3401568"/>
            <a:ext cx="2542032" cy="1188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373368" y="3529584"/>
            <a:ext cx="384048" cy="310896"/>
          </a:xfrm>
          <a:prstGeom prst="roundRect">
            <a:avLst/>
          </a:prstGeom>
          <a:solidFill>
            <a:srgbClr val="D38B19"/>
          </a:solidFill>
          <a:ln w="10160">
            <a:solidFill>
              <a:srgbClr val="D38B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73368" y="3557015"/>
            <a:ext cx="384048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30" b="1">
                <a:solidFill>
                  <a:srgbClr val="FFFFFF"/>
                </a:solidFill>
                <a:latin typeface="Aptos"/>
              </a:rPr>
              <a:t>07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7999" y="3538727"/>
            <a:ext cx="1645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D38B19"/>
                </a:solidFill>
                <a:latin typeface="Aptos"/>
              </a:rPr>
              <a:t>SETTLE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82512" y="3931920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0">
                <a:solidFill>
                  <a:srgbClr val="676F7D"/>
                </a:solidFill>
                <a:latin typeface="Aptos"/>
              </a:rPr>
              <a:t>Claim progresses through the configured decision/settlement flow.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" y="5230368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75013F"/>
                </a:solidFill>
                <a:latin typeface="Aptos"/>
              </a:rPr>
              <a:t>END-TO-END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828800" y="5193792"/>
            <a:ext cx="8961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81E2B"/>
                </a:solidFill>
                <a:latin typeface="Aptos"/>
              </a:rPr>
              <a:t>Customer → Quote → Underwriter → Policy → Claim → Surveyor → Settlement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676F7D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75013F"/>
                </a:solidFill>
                <a:latin typeface="Aptos"/>
              </a:rPr>
              <a:t>04 — EV DIFFERENTIATOR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85800"/>
            <a:ext cx="10789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81E2B"/>
                </a:solidFill>
                <a:latin typeface="Aptos"/>
              </a:rPr>
              <a:t>What makes the platform EV-specific?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25880"/>
            <a:ext cx="10332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76F7D"/>
                </a:solidFill>
                <a:latin typeface="Aptos"/>
              </a:rPr>
              <a:t>The project models EV-specific information and configurable EV insurance protection.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28800"/>
            <a:ext cx="2011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6000" b="1">
                <a:solidFill>
                  <a:srgbClr val="75013F"/>
                </a:solidFill>
                <a:latin typeface="Aptos"/>
              </a:rPr>
              <a:t>EV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743200"/>
            <a:ext cx="2468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676F7D"/>
                </a:solidFill>
                <a:latin typeface="Aptos"/>
              </a:rPr>
              <a:t>insurance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71800" y="1828800"/>
            <a:ext cx="3794760" cy="1353312"/>
          </a:xfrm>
          <a:prstGeom prst="roundRect">
            <a:avLst/>
          </a:prstGeom>
          <a:solidFill>
            <a:srgbClr val="EDF4FF"/>
          </a:solidFill>
          <a:ln w="10160">
            <a:solidFill>
              <a:srgbClr val="DA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971800" y="1828800"/>
            <a:ext cx="54864" cy="1353312"/>
          </a:xfrm>
          <a:prstGeom prst="rect">
            <a:avLst/>
          </a:prstGeom>
          <a:solidFill>
            <a:srgbClr val="2A64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54680" y="1975104"/>
            <a:ext cx="34747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A64CD"/>
                </a:solidFill>
                <a:latin typeface="Aptos"/>
              </a:rPr>
              <a:t>EV VEHICLE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54680" y="2368296"/>
            <a:ext cx="34747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181E2B"/>
                </a:solidFill>
                <a:latin typeface="Aptos"/>
              </a:rPr>
              <a:t>Vehicle information is captured as part of the customer’s EV profile.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0" y="1828800"/>
            <a:ext cx="3794760" cy="1353312"/>
          </a:xfrm>
          <a:prstGeom prst="roundRect">
            <a:avLst/>
          </a:prstGeom>
          <a:solidFill>
            <a:srgbClr val="FAEFF6"/>
          </a:solidFill>
          <a:ln w="10160">
            <a:solidFill>
              <a:srgbClr val="DA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0" y="1828800"/>
            <a:ext cx="54864" cy="1353312"/>
          </a:xfrm>
          <a:prstGeom prst="rect">
            <a:avLst/>
          </a:prstGeom>
          <a:solidFill>
            <a:srgbClr val="7501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0" y="1975104"/>
            <a:ext cx="34747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75013F"/>
                </a:solidFill>
                <a:latin typeface="Aptos"/>
              </a:rPr>
              <a:t>BATTERY PROTECTION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2368296"/>
            <a:ext cx="34747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181E2B"/>
                </a:solidFill>
                <a:latin typeface="Aptos"/>
              </a:rPr>
              <a:t>Coverage can address the battery as a key EV component.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971800" y="3474720"/>
            <a:ext cx="3794760" cy="1353312"/>
          </a:xfrm>
          <a:prstGeom prst="roundRect">
            <a:avLst/>
          </a:prstGeom>
          <a:solidFill>
            <a:srgbClr val="EBF8F4"/>
          </a:solidFill>
          <a:ln w="10160">
            <a:solidFill>
              <a:srgbClr val="DA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71800" y="3474720"/>
            <a:ext cx="54864" cy="1353312"/>
          </a:xfrm>
          <a:prstGeom prst="rect">
            <a:avLst/>
          </a:prstGeom>
          <a:solidFill>
            <a:srgbClr val="188E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154680" y="3621024"/>
            <a:ext cx="34747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88E7D"/>
                </a:solidFill>
                <a:latin typeface="Aptos"/>
              </a:rPr>
              <a:t>CHARGING CONTEXT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54680" y="4014215"/>
            <a:ext cx="34747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181E2B"/>
                </a:solidFill>
                <a:latin typeface="Aptos"/>
              </a:rPr>
              <a:t>Charging-related information can be represented in the EV workflow.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0" y="3474720"/>
            <a:ext cx="3794760" cy="1353312"/>
          </a:xfrm>
          <a:prstGeom prst="roundRect">
            <a:avLst/>
          </a:prstGeom>
          <a:solidFill>
            <a:srgbClr val="FFF7E5"/>
          </a:solidFill>
          <a:ln w="10160">
            <a:solidFill>
              <a:srgbClr val="DA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32320" y="3474720"/>
            <a:ext cx="54864" cy="1353312"/>
          </a:xfrm>
          <a:prstGeom prst="rect">
            <a:avLst/>
          </a:prstGeom>
          <a:solidFill>
            <a:srgbClr val="D38B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0" y="3621024"/>
            <a:ext cx="34747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D38B19"/>
                </a:solidFill>
                <a:latin typeface="Aptos"/>
              </a:rPr>
              <a:t>EV COVERAGES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4014215"/>
            <a:ext cx="34747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181E2B"/>
                </a:solidFill>
                <a:latin typeface="Aptos"/>
              </a:rPr>
              <a:t>The product model can include theft, flood and roadside protection.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17520" y="5303520"/>
            <a:ext cx="795527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181E2B"/>
                </a:solidFill>
                <a:latin typeface="Aptos"/>
              </a:rPr>
              <a:t>The key differentiator: EV information is treated as part of the insurance domain rather than as an afterthought.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676F7D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FF9ECC"/>
                </a:solidFill>
                <a:latin typeface="Aptos"/>
              </a:rPr>
              <a:t>05 —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85800"/>
            <a:ext cx="10789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ptos"/>
              </a:rPr>
              <a:t>Application architecture and service boundaries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25880"/>
            <a:ext cx="10332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C4CDDC"/>
                </a:solidFill>
                <a:latin typeface="Aptos"/>
              </a:rPr>
              <a:t>The current project does NOT have a separate Vehicle Service.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783080"/>
            <a:ext cx="10287000" cy="658368"/>
          </a:xfrm>
          <a:prstGeom prst="roundRect">
            <a:avLst/>
          </a:prstGeom>
          <a:solidFill>
            <a:srgbClr val="1D2A41"/>
          </a:solidFill>
          <a:ln w="10160">
            <a:solidFill>
              <a:srgbClr val="404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993392"/>
            <a:ext cx="10012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ptos"/>
              </a:rPr>
              <a:t>ANGULAR FRONTEND  •  TYPESCRIPT  •  TAILWINDCSS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053328" y="2441448"/>
            <a:ext cx="0" cy="347472"/>
          </a:xfrm>
          <a:prstGeom prst="line">
            <a:avLst/>
          </a:prstGeom>
          <a:ln w="17780">
            <a:solidFill>
              <a:srgbClr val="96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914400" y="2788920"/>
            <a:ext cx="10287000" cy="658368"/>
          </a:xfrm>
          <a:prstGeom prst="roundRect">
            <a:avLst/>
          </a:prstGeom>
          <a:solidFill>
            <a:srgbClr val="75013F"/>
          </a:solidFill>
          <a:ln w="10160">
            <a:solidFill>
              <a:srgbClr val="7501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999232"/>
            <a:ext cx="10012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ptos"/>
              </a:rPr>
              <a:t>ASP.NET CORE WEB API / API LAYER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053328" y="3447288"/>
            <a:ext cx="0" cy="320040"/>
          </a:xfrm>
          <a:prstGeom prst="line">
            <a:avLst/>
          </a:prstGeom>
          <a:ln w="17780">
            <a:solidFill>
              <a:srgbClr val="96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77240" y="3794760"/>
            <a:ext cx="1874519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505C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014215"/>
            <a:ext cx="1783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30" b="1">
                <a:solidFill>
                  <a:srgbClr val="181E2B"/>
                </a:solidFill>
                <a:latin typeface="Aptos"/>
              </a:rPr>
              <a:t>AUTHORIZATION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017520" y="3794760"/>
            <a:ext cx="1874519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505C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63240" y="4014215"/>
            <a:ext cx="1783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30" b="1">
                <a:solidFill>
                  <a:srgbClr val="181E2B"/>
                </a:solidFill>
                <a:latin typeface="Aptos"/>
              </a:rPr>
              <a:t>CUSTOMER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57800" y="3794760"/>
            <a:ext cx="1874519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505C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0" y="4014215"/>
            <a:ext cx="1783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30" b="1">
                <a:solidFill>
                  <a:srgbClr val="181E2B"/>
                </a:solidFill>
                <a:latin typeface="Aptos"/>
              </a:rPr>
              <a:t>POLICY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80" y="3794760"/>
            <a:ext cx="1874519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505C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43800" y="4014215"/>
            <a:ext cx="1783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30" b="1">
                <a:solidFill>
                  <a:srgbClr val="181E2B"/>
                </a:solidFill>
                <a:latin typeface="Aptos"/>
              </a:rPr>
              <a:t>CLAIMS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738360" y="3794760"/>
            <a:ext cx="1874519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505C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84080" y="4014215"/>
            <a:ext cx="1783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30" b="1">
                <a:solidFill>
                  <a:srgbClr val="181E2B"/>
                </a:solidFill>
                <a:latin typeface="Aptos"/>
              </a:rPr>
              <a:t>ADMIN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5010912"/>
            <a:ext cx="66751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ABC6FF"/>
                </a:solidFill>
                <a:latin typeface="Aptos"/>
              </a:rPr>
              <a:t>SQL SERVER + ENTITY FRAMEWORK CORE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0" y="5513832"/>
            <a:ext cx="8138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C0C9D9"/>
                </a:solidFill>
                <a:latin typeface="Aptos"/>
              </a:rPr>
              <a:t>Clean Architecture  •  REST APIs  •  Service-level business logic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09160" y="5971032"/>
            <a:ext cx="2788920" cy="310896"/>
          </a:xfrm>
          <a:prstGeom prst="roundRect">
            <a:avLst/>
          </a:prstGeom>
          <a:solidFill>
            <a:srgbClr val="FAEFF6"/>
          </a:solidFill>
          <a:ln w="10160">
            <a:solidFill>
              <a:srgbClr val="FAE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09160" y="5998464"/>
            <a:ext cx="278892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30" b="1">
                <a:solidFill>
                  <a:srgbClr val="FFAACC"/>
                </a:solidFill>
                <a:latin typeface="Aptos"/>
              </a:rPr>
              <a:t>NO VEHICLE SERVICE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AEB8C9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75013F"/>
                </a:solidFill>
                <a:latin typeface="Aptos"/>
              </a:rPr>
              <a:t>06 — TECHNOLOGY &amp;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85800"/>
            <a:ext cx="10789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81E2B"/>
                </a:solidFill>
                <a:latin typeface="Aptos"/>
              </a:rPr>
              <a:t>Technology stack, authentication and authorization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25880"/>
            <a:ext cx="10332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76F7D"/>
                </a:solidFill>
                <a:latin typeface="Aptos"/>
              </a:rPr>
              <a:t>The stack combines Angular for the UI with a secure .NET backend.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828800"/>
            <a:ext cx="2578608" cy="1828800"/>
          </a:xfrm>
          <a:prstGeom prst="roundRect">
            <a:avLst/>
          </a:prstGeom>
          <a:solidFill>
            <a:srgbClr val="EDF4FF"/>
          </a:solidFill>
          <a:ln w="10160">
            <a:solidFill>
              <a:srgbClr val="DA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28800"/>
            <a:ext cx="54864" cy="1828800"/>
          </a:xfrm>
          <a:prstGeom prst="rect">
            <a:avLst/>
          </a:prstGeom>
          <a:solidFill>
            <a:srgbClr val="2A64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975104"/>
            <a:ext cx="225856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A64CD"/>
                </a:solidFill>
                <a:latin typeface="Aptos"/>
              </a:rPr>
              <a:t>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368296"/>
            <a:ext cx="2258568" cy="11612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0">
                <a:solidFill>
                  <a:srgbClr val="181E2B"/>
                </a:solidFill>
                <a:latin typeface="Aptos"/>
              </a:rPr>
              <a:t>Angular
TypeScript
TailwindCSS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1828800"/>
            <a:ext cx="2578608" cy="1828800"/>
          </a:xfrm>
          <a:prstGeom prst="roundRect">
            <a:avLst/>
          </a:prstGeom>
          <a:solidFill>
            <a:srgbClr val="FAEFF6"/>
          </a:solidFill>
          <a:ln w="10160">
            <a:solidFill>
              <a:srgbClr val="DA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74720" y="1828800"/>
            <a:ext cx="54864" cy="1828800"/>
          </a:xfrm>
          <a:prstGeom prst="rect">
            <a:avLst/>
          </a:prstGeom>
          <a:solidFill>
            <a:srgbClr val="7501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0" y="1975104"/>
            <a:ext cx="225856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75013F"/>
                </a:solidFill>
                <a:latin typeface="Aptos"/>
              </a:rPr>
              <a:t>BACKEND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368296"/>
            <a:ext cx="2258568" cy="11612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0">
                <a:solidFill>
                  <a:srgbClr val="181E2B"/>
                </a:solidFill>
                <a:latin typeface="Aptos"/>
              </a:rPr>
              <a:t>ASP.NET Core
C#
REST APIs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91072" y="1828800"/>
            <a:ext cx="2578608" cy="1828800"/>
          </a:xfrm>
          <a:prstGeom prst="roundRect">
            <a:avLst/>
          </a:prstGeom>
          <a:solidFill>
            <a:srgbClr val="EBF8F4"/>
          </a:solidFill>
          <a:ln w="10160">
            <a:solidFill>
              <a:srgbClr val="DA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91072" y="1828800"/>
            <a:ext cx="54864" cy="1828800"/>
          </a:xfrm>
          <a:prstGeom prst="rect">
            <a:avLst/>
          </a:prstGeom>
          <a:solidFill>
            <a:srgbClr val="188E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73952" y="1975104"/>
            <a:ext cx="225856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88E7D"/>
                </a:solidFill>
                <a:latin typeface="Aptos"/>
              </a:rPr>
              <a:t>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2368296"/>
            <a:ext cx="2258568" cy="11612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0">
                <a:solidFill>
                  <a:srgbClr val="181E2B"/>
                </a:solidFill>
                <a:latin typeface="Aptos"/>
              </a:rPr>
              <a:t>SQL Server
EF Core
Migrations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07424" y="1828800"/>
            <a:ext cx="2578608" cy="1828800"/>
          </a:xfrm>
          <a:prstGeom prst="roundRect">
            <a:avLst/>
          </a:prstGeom>
          <a:solidFill>
            <a:srgbClr val="FFF7E5"/>
          </a:solidFill>
          <a:ln w="10160">
            <a:solidFill>
              <a:srgbClr val="DA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07424" y="1828800"/>
            <a:ext cx="54864" cy="1828800"/>
          </a:xfrm>
          <a:prstGeom prst="rect">
            <a:avLst/>
          </a:prstGeom>
          <a:solidFill>
            <a:srgbClr val="D38B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90304" y="1975104"/>
            <a:ext cx="225856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D38B19"/>
                </a:solidFill>
                <a:latin typeface="Aptos"/>
              </a:rPr>
              <a:t>AUTH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90304" y="2368296"/>
            <a:ext cx="2258568" cy="11612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0">
                <a:solidFill>
                  <a:srgbClr val="181E2B"/>
                </a:solidFill>
                <a:latin typeface="Aptos"/>
              </a:rPr>
              <a:t>ASP.NET Identity
JWT
Role-based authorization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160520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75013F"/>
                </a:solidFill>
                <a:latin typeface="Aptos"/>
              </a:rPr>
              <a:t>AUTHENTICATION FLOW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4572000"/>
            <a:ext cx="1783080" cy="594360"/>
          </a:xfrm>
          <a:prstGeom prst="roundRect">
            <a:avLst/>
          </a:prstGeom>
          <a:solidFill>
            <a:srgbClr val="F8F6F1"/>
          </a:solidFill>
          <a:ln w="10160">
            <a:solidFill>
              <a:srgbClr val="DA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745736"/>
            <a:ext cx="169164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181E2B"/>
                </a:solidFill>
                <a:latin typeface="Aptos"/>
              </a:rPr>
              <a:t>LOGIN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468880" y="4864608"/>
            <a:ext cx="438912" cy="0"/>
          </a:xfrm>
          <a:prstGeom prst="line">
            <a:avLst/>
          </a:prstGeom>
          <a:ln w="17780">
            <a:solidFill>
              <a:srgbClr val="676F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2907792" y="4572000"/>
            <a:ext cx="1783080" cy="594360"/>
          </a:xfrm>
          <a:prstGeom prst="roundRect">
            <a:avLst/>
          </a:prstGeom>
          <a:solidFill>
            <a:srgbClr val="F8F6F1"/>
          </a:solidFill>
          <a:ln w="10160">
            <a:solidFill>
              <a:srgbClr val="DA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953512" y="4745736"/>
            <a:ext cx="169164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181E2B"/>
                </a:solidFill>
                <a:latin typeface="Aptos"/>
              </a:rPr>
              <a:t>IDENTITY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690872" y="4864608"/>
            <a:ext cx="438912" cy="0"/>
          </a:xfrm>
          <a:prstGeom prst="line">
            <a:avLst/>
          </a:prstGeom>
          <a:ln w="17780">
            <a:solidFill>
              <a:srgbClr val="676F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5129784" y="4572000"/>
            <a:ext cx="1783080" cy="594360"/>
          </a:xfrm>
          <a:prstGeom prst="roundRect">
            <a:avLst/>
          </a:prstGeom>
          <a:solidFill>
            <a:srgbClr val="F8F6F1"/>
          </a:solidFill>
          <a:ln w="10160">
            <a:solidFill>
              <a:srgbClr val="DA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75504" y="4745736"/>
            <a:ext cx="169164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181E2B"/>
                </a:solidFill>
                <a:latin typeface="Aptos"/>
              </a:rPr>
              <a:t>JWT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912864" y="4864608"/>
            <a:ext cx="438912" cy="0"/>
          </a:xfrm>
          <a:prstGeom prst="line">
            <a:avLst/>
          </a:prstGeom>
          <a:ln w="17780">
            <a:solidFill>
              <a:srgbClr val="676F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7351776" y="4572000"/>
            <a:ext cx="1783080" cy="594360"/>
          </a:xfrm>
          <a:prstGeom prst="roundRect">
            <a:avLst/>
          </a:prstGeom>
          <a:solidFill>
            <a:srgbClr val="F8F6F1"/>
          </a:solidFill>
          <a:ln w="10160">
            <a:solidFill>
              <a:srgbClr val="DA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97496" y="4745736"/>
            <a:ext cx="169164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181E2B"/>
                </a:solidFill>
                <a:latin typeface="Aptos"/>
              </a:rPr>
              <a:t>ROLE GUARD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134856" y="4864608"/>
            <a:ext cx="438912" cy="0"/>
          </a:xfrm>
          <a:prstGeom prst="line">
            <a:avLst/>
          </a:prstGeom>
          <a:ln w="17780">
            <a:solidFill>
              <a:srgbClr val="676F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573768" y="4572000"/>
            <a:ext cx="1783080" cy="594360"/>
          </a:xfrm>
          <a:prstGeom prst="roundRect">
            <a:avLst/>
          </a:prstGeom>
          <a:solidFill>
            <a:srgbClr val="F8F6F1"/>
          </a:solidFill>
          <a:ln w="10160">
            <a:solidFill>
              <a:srgbClr val="DA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619488" y="4745736"/>
            <a:ext cx="169164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181E2B"/>
                </a:solidFill>
                <a:latin typeface="Aptos"/>
              </a:rPr>
              <a:t>PROTECTED API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676F7D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75013F"/>
                </a:solidFill>
                <a:latin typeface="Aptos"/>
              </a:rPr>
              <a:t>07 — CORE BUSINESS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85800"/>
            <a:ext cx="10789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81E2B"/>
                </a:solidFill>
                <a:latin typeface="Aptos"/>
              </a:rPr>
              <a:t>Quote, policy and claims processing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25880"/>
            <a:ext cx="10332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76F7D"/>
                </a:solidFill>
                <a:latin typeface="Aptos"/>
              </a:rPr>
              <a:t>The system uses explicit states and role ownership to control the lifecycle.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828800"/>
            <a:ext cx="3429000" cy="3520440"/>
          </a:xfrm>
          <a:prstGeom prst="roundRect">
            <a:avLst/>
          </a:prstGeom>
          <a:solidFill>
            <a:srgbClr val="EDF4FF"/>
          </a:solidFill>
          <a:ln w="10160">
            <a:solidFill>
              <a:srgbClr val="DA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28800"/>
            <a:ext cx="54864" cy="3520440"/>
          </a:xfrm>
          <a:prstGeom prst="rect">
            <a:avLst/>
          </a:prstGeom>
          <a:solidFill>
            <a:srgbClr val="2A64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975104"/>
            <a:ext cx="3108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A64CD"/>
                </a:solidFill>
                <a:latin typeface="Aptos"/>
              </a:rPr>
              <a:t>QUOTE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368296"/>
            <a:ext cx="3108960" cy="2852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181E2B"/>
                </a:solidFill>
                <a:latin typeface="Aptos"/>
              </a:rPr>
              <a:t>Created
↓
Generated
↓
Sent
↓
Accepted / Rejected
Customer selects the insurance product and receives the quote for the application workflow.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828800"/>
            <a:ext cx="3429000" cy="3520440"/>
          </a:xfrm>
          <a:prstGeom prst="roundRect">
            <a:avLst/>
          </a:prstGeom>
          <a:solidFill>
            <a:srgbClr val="EBF8F4"/>
          </a:solidFill>
          <a:ln w="10160">
            <a:solidFill>
              <a:srgbClr val="DA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70832" y="1828800"/>
            <a:ext cx="54864" cy="3520440"/>
          </a:xfrm>
          <a:prstGeom prst="rect">
            <a:avLst/>
          </a:prstGeom>
          <a:solidFill>
            <a:srgbClr val="188E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53712" y="1975104"/>
            <a:ext cx="3108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88E7D"/>
                </a:solidFill>
                <a:latin typeface="Aptos"/>
              </a:rPr>
              <a:t>POLICY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3712" y="2368296"/>
            <a:ext cx="3108960" cy="2852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181E2B"/>
                </a:solidFill>
                <a:latin typeface="Aptos"/>
              </a:rPr>
              <a:t>Pending
↓
Issued
↓
Active
↓
Expired / Cancelled
Approved applications progress into the policy lifecycle.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83296" y="1828800"/>
            <a:ext cx="3429000" cy="3520440"/>
          </a:xfrm>
          <a:prstGeom prst="roundRect">
            <a:avLst/>
          </a:prstGeom>
          <a:solidFill>
            <a:srgbClr val="FAEFF6"/>
          </a:solidFill>
          <a:ln w="10160">
            <a:solidFill>
              <a:srgbClr val="DA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83296" y="1828800"/>
            <a:ext cx="54864" cy="3520440"/>
          </a:xfrm>
          <a:prstGeom prst="rect">
            <a:avLst/>
          </a:prstGeom>
          <a:solidFill>
            <a:srgbClr val="7501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66175" y="1975104"/>
            <a:ext cx="3108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75013F"/>
                </a:solidFill>
                <a:latin typeface="Aptos"/>
              </a:rPr>
              <a:t>CLAIM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5" y="2368296"/>
            <a:ext cx="3108960" cy="2852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181E2B"/>
                </a:solidFill>
                <a:latin typeface="Aptos"/>
              </a:rPr>
              <a:t>Submitted
↓
Assigned
↓
Surveyor Investigation
↓
Recommendation
↓
Settlement
Surveyor performs verification; there is no separate Claims Officer.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676F7D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75013F"/>
                </a:solidFill>
                <a:latin typeface="Aptos"/>
              </a:rPr>
              <a:t>08 — ADMINISTRATION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85800"/>
            <a:ext cx="10789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81E2B"/>
                </a:solidFill>
                <a:latin typeface="Aptos"/>
              </a:rPr>
              <a:t>Product configuration: turning policies and coverages into products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25880"/>
            <a:ext cx="10332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76F7D"/>
                </a:solidFill>
                <a:latin typeface="Aptos"/>
              </a:rPr>
              <a:t>Admin connects reusable policy types and coverage types into meaningful insurance products.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828800"/>
            <a:ext cx="3246120" cy="2560320"/>
          </a:xfrm>
          <a:prstGeom prst="roundRect">
            <a:avLst/>
          </a:prstGeom>
          <a:solidFill>
            <a:srgbClr val="EDF4FF"/>
          </a:solidFill>
          <a:ln w="10160">
            <a:solidFill>
              <a:srgbClr val="DA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28800"/>
            <a:ext cx="54864" cy="2560320"/>
          </a:xfrm>
          <a:prstGeom prst="rect">
            <a:avLst/>
          </a:prstGeom>
          <a:solidFill>
            <a:srgbClr val="2A64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975104"/>
            <a:ext cx="292607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A64CD"/>
                </a:solidFill>
                <a:latin typeface="Aptos"/>
              </a:rPr>
              <a:t>POLICY TYPES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368296"/>
            <a:ext cx="2926079" cy="18928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81E2B"/>
                </a:solidFill>
                <a:latin typeface="Aptos"/>
              </a:rPr>
              <a:t>Comprehensive EV
Premium EV
Third Party
These define the available insurance products.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1828800"/>
            <a:ext cx="3246120" cy="2560320"/>
          </a:xfrm>
          <a:prstGeom prst="roundRect">
            <a:avLst/>
          </a:prstGeom>
          <a:solidFill>
            <a:srgbClr val="EBF8F4"/>
          </a:solidFill>
          <a:ln w="10160">
            <a:solidFill>
              <a:srgbClr val="DA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80560" y="1828800"/>
            <a:ext cx="54864" cy="2560320"/>
          </a:xfrm>
          <a:prstGeom prst="rect">
            <a:avLst/>
          </a:prstGeom>
          <a:solidFill>
            <a:srgbClr val="188E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1975104"/>
            <a:ext cx="292607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88E7D"/>
                </a:solidFill>
                <a:latin typeface="Aptos"/>
              </a:rPr>
              <a:t>COVERAGE TYPES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368296"/>
            <a:ext cx="2926079" cy="18928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81E2B"/>
                </a:solidFill>
                <a:latin typeface="Aptos"/>
              </a:rPr>
              <a:t>Battery Protection
Flood Protection
Theft Protection
Roadside Assistance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02752" y="1828800"/>
            <a:ext cx="3246120" cy="2560320"/>
          </a:xfrm>
          <a:prstGeom prst="roundRect">
            <a:avLst/>
          </a:prstGeom>
          <a:solidFill>
            <a:srgbClr val="FAEFF6"/>
          </a:solidFill>
          <a:ln w="10160">
            <a:solidFill>
              <a:srgbClr val="DA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302752" y="1828800"/>
            <a:ext cx="54864" cy="2560320"/>
          </a:xfrm>
          <a:prstGeom prst="rect">
            <a:avLst/>
          </a:prstGeom>
          <a:solidFill>
            <a:srgbClr val="7501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85632" y="1975104"/>
            <a:ext cx="292607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75013F"/>
                </a:solidFill>
                <a:latin typeface="Aptos"/>
              </a:rPr>
              <a:t>PRODUCT CONFIGURATION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85632" y="2368296"/>
            <a:ext cx="2926079" cy="18928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0">
                <a:solidFill>
                  <a:srgbClr val="181E2B"/>
                </a:solidFill>
                <a:latin typeface="Aptos"/>
              </a:rPr>
              <a:t>Admin maps the appropriate coverages to each policy type.
This prevents product rules from being hard-coded.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904487" y="3108960"/>
            <a:ext cx="576073" cy="0"/>
          </a:xfrm>
          <a:prstGeom prst="line">
            <a:avLst/>
          </a:prstGeom>
          <a:ln w="17780">
            <a:solidFill>
              <a:srgbClr val="676F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726679" y="3108960"/>
            <a:ext cx="576073" cy="0"/>
          </a:xfrm>
          <a:prstGeom prst="line">
            <a:avLst/>
          </a:prstGeom>
          <a:ln w="17780">
            <a:solidFill>
              <a:srgbClr val="676F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85800" y="491947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D38B19"/>
                </a:solidFill>
                <a:latin typeface="Aptos"/>
              </a:rPr>
              <a:t>Example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4864608"/>
            <a:ext cx="9784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81E2B"/>
                </a:solidFill>
                <a:latin typeface="Aptos"/>
              </a:rPr>
              <a:t>Comprehensive EV  →  Battery + Flood + Theft + Roadside Assistance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559552"/>
            <a:ext cx="10241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676F7D"/>
                </a:solidFill>
                <a:latin typeface="Aptos"/>
              </a:rPr>
              <a:t>Admin dashboard areas: Employee Requests • Policy Types • Coverage Types • Product Configuration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676F7D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FF9ECC"/>
                </a:solidFill>
                <a:latin typeface="Aptos"/>
              </a:rPr>
              <a:t>09 — DEMO &amp; FUTURE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85800"/>
            <a:ext cx="10789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ptos"/>
              </a:rPr>
              <a:t>Live demonstration and future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25880"/>
            <a:ext cx="10332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C4CDDC"/>
                </a:solidFill>
                <a:latin typeface="Aptos"/>
              </a:rPr>
              <a:t>A focused demo shows the complete journey without needing to explain every screen.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2542032" cy="1024128"/>
          </a:xfrm>
          <a:prstGeom prst="roundRect">
            <a:avLst/>
          </a:prstGeom>
          <a:solidFill>
            <a:srgbClr val="1D2A41"/>
          </a:solidFill>
          <a:ln w="10160">
            <a:solidFill>
              <a:srgbClr val="404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86384" y="1911095"/>
            <a:ext cx="384048" cy="310896"/>
          </a:xfrm>
          <a:prstGeom prst="roundRect">
            <a:avLst/>
          </a:prstGeom>
          <a:solidFill>
            <a:srgbClr val="75013F"/>
          </a:solidFill>
          <a:ln w="10160">
            <a:solidFill>
              <a:srgbClr val="7501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1938527"/>
            <a:ext cx="384048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3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920240"/>
            <a:ext cx="16916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Aptos"/>
              </a:rPr>
              <a:t>LOGIN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313432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80" b="0">
                <a:solidFill>
                  <a:srgbClr val="C0C9D9"/>
                </a:solidFill>
                <a:latin typeface="Aptos"/>
              </a:rPr>
              <a:t>Customer authentication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1783080"/>
            <a:ext cx="2542032" cy="1024128"/>
          </a:xfrm>
          <a:prstGeom prst="roundRect">
            <a:avLst/>
          </a:prstGeom>
          <a:solidFill>
            <a:srgbClr val="1D2A41"/>
          </a:solidFill>
          <a:ln w="10160">
            <a:solidFill>
              <a:srgbClr val="404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602736" y="1911095"/>
            <a:ext cx="384048" cy="310896"/>
          </a:xfrm>
          <a:prstGeom prst="roundRect">
            <a:avLst/>
          </a:prstGeom>
          <a:solidFill>
            <a:srgbClr val="2A64CD"/>
          </a:solidFill>
          <a:ln w="10160">
            <a:solidFill>
              <a:srgbClr val="2A64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02736" y="1938527"/>
            <a:ext cx="384048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3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96511" y="1920240"/>
            <a:ext cx="16916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Aptos"/>
              </a:rPr>
              <a:t>EV REGISTRATION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21024" y="2313432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80" b="0">
                <a:solidFill>
                  <a:srgbClr val="C0C9D9"/>
                </a:solidFill>
                <a:latin typeface="Aptos"/>
              </a:rPr>
              <a:t>Capture EV information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91072" y="1783080"/>
            <a:ext cx="2542032" cy="1024128"/>
          </a:xfrm>
          <a:prstGeom prst="roundRect">
            <a:avLst/>
          </a:prstGeom>
          <a:solidFill>
            <a:srgbClr val="1D2A41"/>
          </a:solidFill>
          <a:ln w="10160">
            <a:solidFill>
              <a:srgbClr val="404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19088" y="1911095"/>
            <a:ext cx="384048" cy="310896"/>
          </a:xfrm>
          <a:prstGeom prst="roundRect">
            <a:avLst/>
          </a:prstGeom>
          <a:solidFill>
            <a:srgbClr val="2A64CD"/>
          </a:solidFill>
          <a:ln w="10160">
            <a:solidFill>
              <a:srgbClr val="2A64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19088" y="1938527"/>
            <a:ext cx="384048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3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12864" y="1920240"/>
            <a:ext cx="16916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Aptos"/>
              </a:rPr>
              <a:t>QUOTE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37376" y="2313432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80" b="0">
                <a:solidFill>
                  <a:srgbClr val="C0C9D9"/>
                </a:solidFill>
                <a:latin typeface="Aptos"/>
              </a:rPr>
              <a:t>Select product and generate quote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07424" y="1783080"/>
            <a:ext cx="2542032" cy="1024128"/>
          </a:xfrm>
          <a:prstGeom prst="roundRect">
            <a:avLst/>
          </a:prstGeom>
          <a:solidFill>
            <a:srgbClr val="1D2A41"/>
          </a:solidFill>
          <a:ln w="10160">
            <a:solidFill>
              <a:srgbClr val="404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235440" y="1911095"/>
            <a:ext cx="384048" cy="310896"/>
          </a:xfrm>
          <a:prstGeom prst="roundRect">
            <a:avLst/>
          </a:prstGeom>
          <a:solidFill>
            <a:srgbClr val="2A64CD"/>
          </a:solidFill>
          <a:ln w="10160">
            <a:solidFill>
              <a:srgbClr val="2A64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35440" y="1938527"/>
            <a:ext cx="384048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3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29216" y="1920240"/>
            <a:ext cx="16916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Aptos"/>
              </a:rPr>
              <a:t>UNDERWRITING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53728" y="2313432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80" b="0">
                <a:solidFill>
                  <a:srgbClr val="C0C9D9"/>
                </a:solidFill>
                <a:latin typeface="Aptos"/>
              </a:rPr>
              <a:t>Underwriter reviews application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3108960"/>
            <a:ext cx="2542032" cy="1024128"/>
          </a:xfrm>
          <a:prstGeom prst="roundRect">
            <a:avLst/>
          </a:prstGeom>
          <a:solidFill>
            <a:srgbClr val="1D2A41"/>
          </a:solidFill>
          <a:ln w="10160">
            <a:solidFill>
              <a:srgbClr val="404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86384" y="3236976"/>
            <a:ext cx="384048" cy="310896"/>
          </a:xfrm>
          <a:prstGeom prst="roundRect">
            <a:avLst/>
          </a:prstGeom>
          <a:solidFill>
            <a:srgbClr val="2A64CD"/>
          </a:solidFill>
          <a:ln w="10160">
            <a:solidFill>
              <a:srgbClr val="2A64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6384" y="3264408"/>
            <a:ext cx="384048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3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80160" y="3246120"/>
            <a:ext cx="16916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Aptos"/>
              </a:rPr>
              <a:t>POLICY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" y="3639312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80" b="0">
                <a:solidFill>
                  <a:srgbClr val="C0C9D9"/>
                </a:solidFill>
                <a:latin typeface="Aptos"/>
              </a:rPr>
              <a:t>Display policy lifecycle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474720" y="3108960"/>
            <a:ext cx="2542032" cy="1024128"/>
          </a:xfrm>
          <a:prstGeom prst="roundRect">
            <a:avLst/>
          </a:prstGeom>
          <a:solidFill>
            <a:srgbClr val="1D2A41"/>
          </a:solidFill>
          <a:ln w="10160">
            <a:solidFill>
              <a:srgbClr val="404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3602736" y="3236976"/>
            <a:ext cx="384048" cy="310896"/>
          </a:xfrm>
          <a:prstGeom prst="roundRect">
            <a:avLst/>
          </a:prstGeom>
          <a:solidFill>
            <a:srgbClr val="2A64CD"/>
          </a:solidFill>
          <a:ln w="10160">
            <a:solidFill>
              <a:srgbClr val="2A64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02736" y="3264408"/>
            <a:ext cx="384048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30" b="1">
                <a:solidFill>
                  <a:srgbClr val="FFFFFF"/>
                </a:solidFill>
                <a:latin typeface="Aptos"/>
              </a:rP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96511" y="3246120"/>
            <a:ext cx="16916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Aptos"/>
              </a:rPr>
              <a:t>CLAIM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21024" y="3639312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80" b="0">
                <a:solidFill>
                  <a:srgbClr val="C0C9D9"/>
                </a:solidFill>
                <a:latin typeface="Aptos"/>
              </a:rPr>
              <a:t>Customer submits claim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91072" y="3108960"/>
            <a:ext cx="2542032" cy="1024128"/>
          </a:xfrm>
          <a:prstGeom prst="roundRect">
            <a:avLst/>
          </a:prstGeom>
          <a:solidFill>
            <a:srgbClr val="1D2A41"/>
          </a:solidFill>
          <a:ln w="10160">
            <a:solidFill>
              <a:srgbClr val="404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419088" y="3236976"/>
            <a:ext cx="384048" cy="310896"/>
          </a:xfrm>
          <a:prstGeom prst="roundRect">
            <a:avLst/>
          </a:prstGeom>
          <a:solidFill>
            <a:srgbClr val="2A64CD"/>
          </a:solidFill>
          <a:ln w="10160">
            <a:solidFill>
              <a:srgbClr val="2A64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19088" y="3264408"/>
            <a:ext cx="384048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30" b="1">
                <a:solidFill>
                  <a:srgbClr val="FFFFFF"/>
                </a:solidFill>
                <a:latin typeface="Aptos"/>
              </a:rPr>
              <a:t>07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12864" y="3246120"/>
            <a:ext cx="16916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Aptos"/>
              </a:rPr>
              <a:t>SURVEY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37376" y="3639312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80" b="0">
                <a:solidFill>
                  <a:srgbClr val="C0C9D9"/>
                </a:solidFill>
                <a:latin typeface="Aptos"/>
              </a:rPr>
              <a:t>Surveyor verifies claim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107424" y="3108960"/>
            <a:ext cx="2542032" cy="1024128"/>
          </a:xfrm>
          <a:prstGeom prst="roundRect">
            <a:avLst/>
          </a:prstGeom>
          <a:solidFill>
            <a:srgbClr val="1D2A41"/>
          </a:solidFill>
          <a:ln w="10160">
            <a:solidFill>
              <a:srgbClr val="404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9235440" y="3236976"/>
            <a:ext cx="384048" cy="310896"/>
          </a:xfrm>
          <a:prstGeom prst="roundRect">
            <a:avLst/>
          </a:prstGeom>
          <a:solidFill>
            <a:srgbClr val="75013F"/>
          </a:solidFill>
          <a:ln w="10160">
            <a:solidFill>
              <a:srgbClr val="7501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235440" y="3264408"/>
            <a:ext cx="384048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30" b="1">
                <a:solidFill>
                  <a:srgbClr val="FFFFFF"/>
                </a:solidFill>
                <a:latin typeface="Aptos"/>
              </a:rPr>
              <a:t>08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729216" y="3246120"/>
            <a:ext cx="16916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Aptos"/>
              </a:rPr>
              <a:t>ADMIN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53728" y="3639312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80" b="0">
                <a:solidFill>
                  <a:srgbClr val="C0C9D9"/>
                </a:solidFill>
                <a:latin typeface="Aptos"/>
              </a:rPr>
              <a:t>Configure products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" y="4800600"/>
            <a:ext cx="822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FF9ECC"/>
                </a:solidFill>
                <a:latin typeface="Aptos"/>
              </a:rPr>
              <a:t>FUTURE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54480" y="4754880"/>
            <a:ext cx="97840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ptos"/>
              </a:rPr>
              <a:t>Docker • CI/CD • Cloud deployment • Real external APIs • Async messaging • Advanced EV risk calculation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5800" y="5806440"/>
            <a:ext cx="5669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74BEFF"/>
                </a:solidFill>
                <a:latin typeface="Aptos"/>
              </a:rPr>
              <a:t>THANK YOU  •  QUESTIONS &amp; DISCUSSION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AEB8C9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